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000" autoAdjust="0"/>
    <p:restoredTop sz="95535" autoAdjust="0"/>
  </p:normalViewPr>
  <p:slideViewPr>
    <p:cSldViewPr snapToGrid="0" snapToObjects="1">
      <p:cViewPr>
        <p:scale>
          <a:sx n="66" d="100"/>
          <a:sy n="66" d="100"/>
        </p:scale>
        <p:origin x="1099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186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AR_MASTER">
    <p:bg>
      <p:bgPr>
        <a:solidFill>
          <a:srgbClr val="0B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6601968"/>
            <a:ext cx="11887200" cy="0"/>
          </a:xfrm>
          <a:prstGeom prst="line">
            <a:avLst/>
          </a:prstGeom>
          <a:noFill/>
          <a:ln w="12700">
            <a:solidFill>
              <a:srgbClr val="D9A72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A"/>
          </a:solidFill>
          <a:ln w="12700">
            <a:solidFill>
              <a:srgbClr val="F8F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B1726"/>
          </a:solidFill>
          <a:ln w="12700">
            <a:solidFill>
              <a:srgbClr val="0B17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920240" y="0"/>
            <a:ext cx="3840480" cy="3840480"/>
          </a:xfrm>
          <a:prstGeom prst="arc">
            <a:avLst/>
          </a:prstGeom>
          <a:solidFill>
            <a:srgbClr val="D9A72E">
              <a:alpha val="5000"/>
            </a:srgbClr>
          </a:solidFill>
          <a:ln w="25400">
            <a:solidFill>
              <a:srgbClr val="D9A72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masa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60120"/>
            <a:ext cx="36576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234440"/>
            <a:ext cx="4937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309360" y="2148840"/>
            <a:ext cx="5029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الحيرة إلى الجاهزية المهنية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35040" y="2743200"/>
            <a:ext cx="51663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26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إرشاد أكاديمي ومهني مدعومة بالذكاء الاصطناعي، تبني للطالب طريقًا واضحًا من اختيار التخصص إلى الاستعداد للعمل.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052560" y="397764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25712" y="4041648"/>
            <a:ext cx="140817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Pitch Deck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315200" y="397764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E9D8A6"/>
          </a:solidFill>
          <a:ln w="12700">
            <a:solidFill>
              <a:srgbClr val="E9D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88352" y="4041648"/>
            <a:ext cx="12710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+ AI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778240" y="6172200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E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نسخة المسابقة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 w="12700">
            <a:solidFill>
              <a:srgbClr val="0B17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743200" y="0"/>
            <a:ext cx="5486400" cy="4572000"/>
          </a:xfrm>
          <a:prstGeom prst="arc">
            <a:avLst/>
          </a:prstGeom>
          <a:solidFill>
            <a:srgbClr val="D9A72E">
              <a:alpha val="5000"/>
            </a:srgbClr>
          </a:solidFill>
          <a:ln w="19050">
            <a:solidFill>
              <a:srgbClr val="D9A72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894015" y="5029200"/>
            <a:ext cx="4297680" cy="3657600"/>
          </a:xfrm>
          <a:prstGeom prst="arc">
            <a:avLst/>
          </a:prstGeom>
          <a:solidFill>
            <a:srgbClr val="D9A72E">
              <a:alpha val="4000"/>
            </a:srgbClr>
          </a:solidFill>
          <a:ln w="12700">
            <a:solidFill>
              <a:srgbClr val="D9A72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320040"/>
            <a:ext cx="5715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0" y="841248"/>
            <a:ext cx="5577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لا يحتاج قائمة مواد فقط، بل يحتاج قرارًا واضحًا ومسارًا موثوقًا.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0" y="1225296"/>
            <a:ext cx="1920240" cy="0"/>
          </a:xfrm>
          <a:prstGeom prst="line">
            <a:avLst/>
          </a:prstGeom>
          <a:noFill/>
          <a:ln w="25400">
            <a:solidFill>
              <a:srgbClr val="D9A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4652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8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لحظة اختيار التخصص، كثير من الطلاب يسألون: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2148840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52A42"/>
          </a:solidFill>
          <a:ln w="12700">
            <a:solidFill>
              <a:srgbClr val="33496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835640" y="2221992"/>
            <a:ext cx="292608" cy="292608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835640" y="2240280"/>
            <a:ext cx="2926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2258568"/>
            <a:ext cx="3794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وين مكاني؟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2834640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02338"/>
          </a:solidFill>
          <a:ln w="12700">
            <a:solidFill>
              <a:srgbClr val="33496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835640" y="2907792"/>
            <a:ext cx="292608" cy="292608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835640" y="2926080"/>
            <a:ext cx="2926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12280" y="2944368"/>
            <a:ext cx="3794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 أتعلم أولًا؟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3520440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52A42"/>
          </a:solidFill>
          <a:ln w="12700">
            <a:solidFill>
              <a:srgbClr val="33496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835640" y="3593592"/>
            <a:ext cx="292608" cy="292608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835640" y="3611880"/>
            <a:ext cx="2926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3630168"/>
            <a:ext cx="3794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أعرف أني فهمت؟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4206240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02338"/>
          </a:solidFill>
          <a:ln w="12700">
            <a:solidFill>
              <a:srgbClr val="33496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835640" y="4279392"/>
            <a:ext cx="292608" cy="292608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835640" y="4297680"/>
            <a:ext cx="2926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280" y="4315968"/>
            <a:ext cx="3794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 ينقصني قبل سوق العمل؟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1417320"/>
            <a:ext cx="4983480" cy="4389120"/>
          </a:xfrm>
          <a:prstGeom prst="roundRect">
            <a:avLst>
              <a:gd name="adj" fmla="val 1667"/>
            </a:avLst>
          </a:prstGeom>
          <a:solidFill>
            <a:srgbClr val="0F2033"/>
          </a:solidFill>
          <a:ln w="12700">
            <a:solidFill>
              <a:srgbClr val="D9A72E">
                <a:alpha val="4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06040" y="2057400"/>
            <a:ext cx="1097280" cy="1097280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94560" y="3108960"/>
            <a:ext cx="1920240" cy="1645920"/>
          </a:xfrm>
          <a:prstGeom prst="arc">
            <a:avLst/>
          </a:prstGeom>
          <a:solidFill>
            <a:srgbClr val="D9A72E">
              <a:alpha val="0"/>
            </a:srgbClr>
          </a:solidFill>
          <a:ln w="25400">
            <a:solidFill>
              <a:srgbClr val="D9A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17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2926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3C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44348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3154680" y="2926080"/>
            <a:ext cx="1325880" cy="0"/>
          </a:xfrm>
          <a:prstGeom prst="line">
            <a:avLst/>
          </a:prstGeom>
          <a:noFill/>
          <a:ln w="12700">
            <a:solidFill>
              <a:srgbClr val="B8C2C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880360" y="2926080"/>
            <a:ext cx="0" cy="0"/>
          </a:xfrm>
          <a:prstGeom prst="line">
            <a:avLst/>
          </a:prstGeom>
          <a:noFill/>
          <a:ln w="12700">
            <a:solidFill>
              <a:srgbClr val="B8C2C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08960" y="3063240"/>
            <a:ext cx="0" cy="1508760"/>
          </a:xfrm>
          <a:prstGeom prst="line">
            <a:avLst/>
          </a:prstGeom>
          <a:noFill/>
          <a:ln w="12700">
            <a:solidFill>
              <a:srgbClr val="D9A72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43000" y="5074920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حيرة أكاديمية + ضغط اجتماعي + معلومات متفرقة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502920"/>
            <a:ext cx="5577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الحلول الحالية غير كافية؟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0" y="1024128"/>
            <a:ext cx="5577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435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ليست نقص المعلومات، بل غياب النظام الذي يحول المعلومات إلى تقدّم.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35240" y="1828800"/>
            <a:ext cx="2880360" cy="29718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DC88D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784080" y="2057400"/>
            <a:ext cx="475488" cy="475488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0" y="2075688"/>
            <a:ext cx="4754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0" y="2743200"/>
            <a:ext cx="2148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الإرشاد التقليدي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09560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475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يشرح الاختيارات لكنه لا يبني تجربة تقدّم تفاعلية.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01000" y="4297680"/>
            <a:ext cx="2057400" cy="0"/>
          </a:xfrm>
          <a:prstGeom prst="line">
            <a:avLst/>
          </a:prstGeom>
          <a:noFill/>
          <a:ln w="25400">
            <a:solidFill>
              <a:srgbClr val="D9A7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2880360" cy="29718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DC88D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37960" y="2057400"/>
            <a:ext cx="475488" cy="475488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2075688"/>
            <a:ext cx="4754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2743200"/>
            <a:ext cx="2148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منصات الكورسات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475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تعطي موارد كثيرة بدون ترتيب أكاديمي أو اختبار.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4297680"/>
            <a:ext cx="2057400" cy="0"/>
          </a:xfrm>
          <a:prstGeom prst="line">
            <a:avLst/>
          </a:prstGeom>
          <a:noFill/>
          <a:ln w="25400">
            <a:solidFill>
              <a:srgbClr val="D9A7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43000" y="1828800"/>
            <a:ext cx="2880360" cy="29718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DC88D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0" y="2057400"/>
            <a:ext cx="475488" cy="475488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2075688"/>
            <a:ext cx="4754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2743200"/>
            <a:ext cx="2148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القوائم الجامعية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475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تعرض المواد لكنها لا توضّح الطريق والاعتمادية.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508760" y="4297680"/>
            <a:ext cx="2057400" cy="0"/>
          </a:xfrm>
          <a:prstGeom prst="line">
            <a:avLst/>
          </a:prstGeom>
          <a:noFill/>
          <a:ln w="25400">
            <a:solidFill>
              <a:srgbClr val="D9A7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80360" y="5715000"/>
            <a:ext cx="6400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الطالب يتحرك كثيرًا، لكن بدون مسار واضح.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 w="12700">
            <a:solidFill>
              <a:srgbClr val="0B17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743200" y="0"/>
            <a:ext cx="5486400" cy="4572000"/>
          </a:xfrm>
          <a:prstGeom prst="arc">
            <a:avLst/>
          </a:prstGeom>
          <a:solidFill>
            <a:srgbClr val="D9A72E">
              <a:alpha val="5000"/>
            </a:srgbClr>
          </a:solidFill>
          <a:ln w="19050">
            <a:solidFill>
              <a:srgbClr val="D9A72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5038344"/>
            <a:ext cx="4297680" cy="3657600"/>
          </a:xfrm>
          <a:prstGeom prst="arc">
            <a:avLst/>
          </a:prstGeom>
          <a:solidFill>
            <a:srgbClr val="D9A72E">
              <a:alpha val="4000"/>
            </a:srgbClr>
          </a:solidFill>
          <a:ln w="12700">
            <a:solidFill>
              <a:srgbClr val="D9A72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320040"/>
            <a:ext cx="5715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الحل: مسار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0" y="841248"/>
            <a:ext cx="5577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يربط الاختيار، التعلم، الاختبار، والجاهزية المهنية في تجربة واحدة.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0" y="1225296"/>
            <a:ext cx="1920240" cy="0"/>
          </a:xfrm>
          <a:prstGeom prst="line">
            <a:avLst/>
          </a:prstGeom>
          <a:noFill/>
          <a:ln w="25400">
            <a:solidFill>
              <a:srgbClr val="D9A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2697480" cy="5074920"/>
          </a:xfrm>
          <a:prstGeom prst="roundRect">
            <a:avLst>
              <a:gd name="adj" fmla="val 6102"/>
            </a:avLst>
          </a:prstGeom>
          <a:solidFill>
            <a:srgbClr val="081421"/>
          </a:solidFill>
          <a:ln w="13970">
            <a:solidFill>
              <a:srgbClr val="D9A72E">
                <a:alpha val="7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1344168"/>
            <a:ext cx="2368296" cy="4672584"/>
          </a:xfrm>
          <a:prstGeom prst="roundRect">
            <a:avLst>
              <a:gd name="adj" fmla="val 4633"/>
            </a:avLst>
          </a:prstGeom>
          <a:solidFill>
            <a:srgbClr val="F8F4EA"/>
          </a:solidFill>
          <a:ln w="12700">
            <a:solidFill>
              <a:srgbClr val="F8F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56893" y="1216152"/>
            <a:ext cx="755294" cy="45720"/>
          </a:xfrm>
          <a:prstGeom prst="roundRect">
            <a:avLst>
              <a:gd name="adj" fmla="val 40000"/>
            </a:avLst>
          </a:prstGeom>
          <a:solidFill>
            <a:srgbClr val="6E7883"/>
          </a:solidFill>
          <a:ln w="12700">
            <a:solidFill>
              <a:srgbClr val="6E78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1600200"/>
            <a:ext cx="1783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60120" y="23317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3C84B"/>
          </a:solidFill>
          <a:ln w="12700">
            <a:solidFill>
              <a:srgbClr val="D8D1C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2423160"/>
            <a:ext cx="1691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اكتشف تخصصك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0120" y="292608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D1C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3000" y="3017520"/>
            <a:ext cx="1691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اتبع الشجرة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0120" y="35204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D1C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3000" y="3611880"/>
            <a:ext cx="1691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فهمك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60120" y="411480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D1C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43000" y="4206240"/>
            <a:ext cx="1691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استعد للوظيفة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1554480"/>
            <a:ext cx="6766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لا يترك القرار للذكاء الاصطناعي وحده.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663440" y="2148840"/>
            <a:ext cx="6400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EFE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يقترح ويفسّر ويولّد. التطبيق يتحقق، يربط، يحفظ، ويفتح العقد بطريقة آمنة.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69680" y="30632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01F31"/>
          </a:solidFill>
          <a:ln w="12700">
            <a:solidFill>
              <a:srgbClr val="D9A7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79408" y="3218688"/>
            <a:ext cx="17465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979408" y="3593592"/>
            <a:ext cx="17465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FE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اقتراح وتقييم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30632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01F31"/>
          </a:solidFill>
          <a:ln w="12700">
            <a:solidFill>
              <a:srgbClr val="D9A7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39128" y="3218688"/>
            <a:ext cx="17465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739128" y="3593592"/>
            <a:ext cx="17465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FE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المتطلبات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0" y="30632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01F31"/>
          </a:solidFill>
          <a:ln w="12700">
            <a:solidFill>
              <a:srgbClr val="D9A7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98848" y="3218688"/>
            <a:ext cx="17465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4498848" y="3593592"/>
            <a:ext cx="17465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FE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إثبات الفهم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4663440"/>
            <a:ext cx="6355080" cy="777240"/>
          </a:xfrm>
          <a:prstGeom prst="roundRect">
            <a:avLst>
              <a:gd name="adj" fmla="val 9412"/>
            </a:avLst>
          </a:prstGeom>
          <a:solidFill>
            <a:srgbClr val="102338"/>
          </a:solidFill>
          <a:ln w="12700">
            <a:solidFill>
              <a:srgbClr val="D9A72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4910328"/>
            <a:ext cx="5806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الأساسية: تحويل الحيرة إلى مسار قابل للتنفيذ.</a:t>
            </a:r>
            <a:endParaRPr lang="en-US" sz="16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502920"/>
            <a:ext cx="42519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 الأساسية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0" y="1005840"/>
            <a:ext cx="5394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435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يبني تجربة تعلم تشبه المنتج، لا ملفًا جامعيًا ثابتًا.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35640" y="1600200"/>
            <a:ext cx="457200" cy="457200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835640" y="1618488"/>
            <a:ext cx="4572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1554480"/>
            <a:ext cx="5623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0D2A5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58200" y="1682496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ذكي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57800" y="1691640"/>
            <a:ext cx="3063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495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مرحلة 0 تفهم الطالب وتعرض تخصصات مدعومة فقط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835640" y="2651760"/>
            <a:ext cx="457200" cy="457200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835640" y="2670048"/>
            <a:ext cx="4572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37760" y="2606040"/>
            <a:ext cx="5623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0D2A5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58200" y="2734056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شجرة مستقرة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2743200"/>
            <a:ext cx="3063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495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مواد مرتبة حسب المتطلبات السابقة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835640" y="3703320"/>
            <a:ext cx="457200" cy="457200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835640" y="3721608"/>
            <a:ext cx="4572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3657600"/>
            <a:ext cx="5623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0D2A5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58200" y="3785616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حقيقي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57800" y="3794760"/>
            <a:ext cx="3063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495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MCQ + إجابات نصية + إجابات صورية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835640" y="4754880"/>
            <a:ext cx="457200" cy="457200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835640" y="4773168"/>
            <a:ext cx="4572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4709160"/>
            <a:ext cx="5623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0D2A5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58200" y="4837176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جاهزية مهنية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57800" y="4846320"/>
            <a:ext cx="3063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495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مرحلة نهائية تربط التخصص بالوظائف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160020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0B1726"/>
          </a:solidFill>
          <a:ln w="12700">
            <a:solidFill>
              <a:srgbClr val="0B1726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97280" y="4892040"/>
            <a:ext cx="512064" cy="512064"/>
          </a:xfrm>
          <a:prstGeom prst="ellipse">
            <a:avLst/>
          </a:prstGeom>
          <a:solidFill>
            <a:srgbClr val="D9A72E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1832" y="5056632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417320" y="4956048"/>
            <a:ext cx="274320" cy="0"/>
          </a:xfrm>
          <a:prstGeom prst="line">
            <a:avLst/>
          </a:prstGeom>
          <a:noFill/>
          <a:ln w="1270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627632" y="4361688"/>
            <a:ext cx="512064" cy="512064"/>
          </a:xfrm>
          <a:prstGeom prst="ellipse">
            <a:avLst/>
          </a:prstGeom>
          <a:solidFill>
            <a:srgbClr val="D9A72E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72184" y="4526280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947672" y="4425696"/>
            <a:ext cx="274320" cy="0"/>
          </a:xfrm>
          <a:prstGeom prst="line">
            <a:avLst/>
          </a:prstGeom>
          <a:noFill/>
          <a:ln w="1270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157984" y="3831336"/>
            <a:ext cx="512064" cy="512064"/>
          </a:xfrm>
          <a:prstGeom prst="ellipse">
            <a:avLst/>
          </a:prstGeom>
          <a:solidFill>
            <a:srgbClr val="D9A72E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002536" y="3995928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478024" y="3895344"/>
            <a:ext cx="274320" cy="0"/>
          </a:xfrm>
          <a:prstGeom prst="line">
            <a:avLst/>
          </a:prstGeom>
          <a:noFill/>
          <a:ln w="1270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688336" y="3300984"/>
            <a:ext cx="512064" cy="512064"/>
          </a:xfrm>
          <a:prstGeom prst="ellipse">
            <a:avLst/>
          </a:prstGeom>
          <a:solidFill>
            <a:srgbClr val="6EA8FE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32888" y="3465576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008376" y="3364992"/>
            <a:ext cx="274320" cy="0"/>
          </a:xfrm>
          <a:prstGeom prst="line">
            <a:avLst/>
          </a:prstGeom>
          <a:noFill/>
          <a:ln w="1270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18688" y="2770632"/>
            <a:ext cx="512064" cy="512064"/>
          </a:xfrm>
          <a:prstGeom prst="ellipse">
            <a:avLst/>
          </a:prstGeom>
          <a:solidFill>
            <a:srgbClr val="31445A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063240" y="2935224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538728" y="2834640"/>
            <a:ext cx="274320" cy="0"/>
          </a:xfrm>
          <a:prstGeom prst="line">
            <a:avLst/>
          </a:prstGeom>
          <a:noFill/>
          <a:ln w="1270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749040" y="2240280"/>
            <a:ext cx="512064" cy="512064"/>
          </a:xfrm>
          <a:prstGeom prst="ellipse">
            <a:avLst/>
          </a:prstGeom>
          <a:solidFill>
            <a:srgbClr val="31445A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593592" y="2404872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4300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طريق واحد واضح</a:t>
            </a:r>
            <a:endParaRPr lang="en-US" sz="15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 w="12700">
            <a:solidFill>
              <a:srgbClr val="0B17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743200" y="0"/>
            <a:ext cx="5486400" cy="4572000"/>
          </a:xfrm>
          <a:prstGeom prst="arc">
            <a:avLst/>
          </a:prstGeom>
          <a:solidFill>
            <a:srgbClr val="D9A72E">
              <a:alpha val="5000"/>
            </a:srgbClr>
          </a:solidFill>
          <a:ln w="19050">
            <a:solidFill>
              <a:srgbClr val="D9A72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94320" y="5024744"/>
            <a:ext cx="4297680" cy="3657600"/>
          </a:xfrm>
          <a:prstGeom prst="arc">
            <a:avLst/>
          </a:prstGeom>
          <a:solidFill>
            <a:srgbClr val="D9A72E">
              <a:alpha val="4000"/>
            </a:srgbClr>
          </a:solidFill>
          <a:ln w="12700">
            <a:solidFill>
              <a:srgbClr val="D9A72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320040"/>
            <a:ext cx="5715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المستخدم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0" y="841248"/>
            <a:ext cx="5577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أول سؤال إلى هدف وظيفي واضح.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0" y="1225296"/>
            <a:ext cx="1920240" cy="0"/>
          </a:xfrm>
          <a:prstGeom prst="line">
            <a:avLst/>
          </a:prstGeom>
          <a:noFill/>
          <a:ln w="25400">
            <a:solidFill>
              <a:srgbClr val="D9A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83464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D9A72E"/>
          </a:solidFill>
          <a:ln w="12700">
            <a:solidFill>
              <a:srgbClr val="D9A72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24712" y="2971800"/>
            <a:ext cx="3840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" y="3429000"/>
            <a:ext cx="104241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يدخل مرحلة الاكتشاف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93392" y="3410712"/>
            <a:ext cx="265176" cy="0"/>
          </a:xfrm>
          <a:prstGeom prst="line">
            <a:avLst/>
          </a:prstGeom>
          <a:noFill/>
          <a:ln w="1905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13432" y="283464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102338"/>
          </a:solidFill>
          <a:ln w="12700">
            <a:solidFill>
              <a:srgbClr val="2D456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52344" y="2971800"/>
            <a:ext cx="3840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23160" y="3429000"/>
            <a:ext cx="104241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يختار تخصصًا مدعومًا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21024" y="3410712"/>
            <a:ext cx="265176" cy="0"/>
          </a:xfrm>
          <a:prstGeom prst="line">
            <a:avLst/>
          </a:prstGeom>
          <a:noFill/>
          <a:ln w="1905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41064" y="283464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102338"/>
          </a:solidFill>
          <a:ln w="12700">
            <a:solidFill>
              <a:srgbClr val="2D456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79976" y="2971800"/>
            <a:ext cx="3840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50792" y="3429000"/>
            <a:ext cx="104241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يفتح الشجرة التعليمية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48656" y="3410712"/>
            <a:ext cx="265176" cy="0"/>
          </a:xfrm>
          <a:prstGeom prst="line">
            <a:avLst/>
          </a:prstGeom>
          <a:noFill/>
          <a:ln w="1905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68696" y="283464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102338"/>
          </a:solidFill>
          <a:ln w="12700">
            <a:solidFill>
              <a:srgbClr val="2D456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07608" y="2971800"/>
            <a:ext cx="3840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78424" y="3429000"/>
            <a:ext cx="104241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يدرس العقد ومواردها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76288" y="3410712"/>
            <a:ext cx="265176" cy="0"/>
          </a:xfrm>
          <a:prstGeom prst="line">
            <a:avLst/>
          </a:prstGeom>
          <a:noFill/>
          <a:ln w="1905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96328" y="283464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102338"/>
          </a:solidFill>
          <a:ln w="12700">
            <a:solidFill>
              <a:srgbClr val="2D456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35240" y="2971800"/>
            <a:ext cx="3840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06056" y="3429000"/>
            <a:ext cx="104241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يجتاز الاختبار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503920" y="3410712"/>
            <a:ext cx="265176" cy="0"/>
          </a:xfrm>
          <a:prstGeom prst="line">
            <a:avLst/>
          </a:prstGeom>
          <a:noFill/>
          <a:ln w="1905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823960" y="283464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102338"/>
          </a:solidFill>
          <a:ln w="12700">
            <a:solidFill>
              <a:srgbClr val="2D456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262872" y="2971800"/>
            <a:ext cx="3840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933688" y="3429000"/>
            <a:ext cx="104241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يفتح المرحلة النهائية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131552" y="3410712"/>
            <a:ext cx="265176" cy="0"/>
          </a:xfrm>
          <a:prstGeom prst="line">
            <a:avLst/>
          </a:prstGeom>
          <a:noFill/>
          <a:ln w="1905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451592" y="283464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D9A72E"/>
          </a:solidFill>
          <a:ln w="12700">
            <a:solidFill>
              <a:srgbClr val="D9A72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890504" y="2971800"/>
            <a:ext cx="3840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561320" y="3429000"/>
            <a:ext cx="104241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يبني جاهزية مهنية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11680" y="4709160"/>
            <a:ext cx="81381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خطوة تحفظ حالة الطالب وتمنعه من القفز العشوائي.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772400" y="5559552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845552" y="5623560"/>
            <a:ext cx="76809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تخصّص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83680" y="5559552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EFE8D9"/>
          </a:solidFill>
          <a:ln w="12700">
            <a:solidFill>
              <a:srgbClr val="EFE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56832" y="5623560"/>
            <a:ext cx="76809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مواد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94960" y="5559552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68112" y="5623560"/>
            <a:ext cx="76809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اختبارات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06240" y="5559552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EFE8D9"/>
          </a:solidFill>
          <a:ln w="12700">
            <a:solidFill>
              <a:srgbClr val="EFE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79392" y="5623560"/>
            <a:ext cx="76809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وظائف</a:t>
            </a:r>
            <a:endParaRPr lang="en-US" sz="8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457200"/>
            <a:ext cx="48463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المراحل: 0 → 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0" y="1005840"/>
            <a:ext cx="5715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435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مرحلة لها هدف واضح ومدخلات ومخرجات قابلة للتحقق.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458200" y="2148840"/>
            <a:ext cx="2331720" cy="1965960"/>
          </a:xfrm>
          <a:prstGeom prst="chevron">
            <a:avLst/>
          </a:prstGeom>
          <a:solidFill>
            <a:srgbClr val="D9A72E"/>
          </a:solidFill>
          <a:ln w="12700">
            <a:solidFill>
              <a:srgbClr val="D9A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784080" y="2423160"/>
            <a:ext cx="411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189720" y="2944368"/>
            <a:ext cx="1234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الاكتشاف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098280" y="3337560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أنا؟ وأي تخصص يناسبني؟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897880" y="2148840"/>
            <a:ext cx="2331720" cy="196596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2CDB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32320" y="2423160"/>
            <a:ext cx="411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537960" y="2944368"/>
            <a:ext cx="1234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3337560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مواد البداية التي تبني القاعدة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331720" cy="196596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2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0560" y="2423160"/>
            <a:ext cx="411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3886200" y="2944368"/>
            <a:ext cx="1234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التخصص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3337560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مواد أعمق حسب المسار المختار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7220" y="2148840"/>
            <a:ext cx="2331720" cy="1965960"/>
          </a:xfrm>
          <a:prstGeom prst="chevron">
            <a:avLst/>
          </a:prstGeom>
          <a:solidFill>
            <a:srgbClr val="0B1726"/>
          </a:solidFill>
          <a:ln w="12700">
            <a:solidFill>
              <a:srgbClr val="0B17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28800" y="2423160"/>
            <a:ext cx="411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234440" y="2944368"/>
            <a:ext cx="1234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الجاهزية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337560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EFE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عقد نهائية حسب الوظائف المستهدفة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28800" y="5303520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ليست مجرد خطة مواد، بل تقدّم مضبوط من القرار إلى التوظيف.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 w="12700">
            <a:solidFill>
              <a:srgbClr val="0B17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743200" y="0"/>
            <a:ext cx="5486400" cy="4572000"/>
          </a:xfrm>
          <a:prstGeom prst="arc">
            <a:avLst/>
          </a:prstGeom>
          <a:solidFill>
            <a:srgbClr val="D9A72E">
              <a:alpha val="5000"/>
            </a:srgbClr>
          </a:solidFill>
          <a:ln w="19050">
            <a:solidFill>
              <a:srgbClr val="D9A72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94015" y="5038344"/>
            <a:ext cx="4297680" cy="3657600"/>
          </a:xfrm>
          <a:prstGeom prst="arc">
            <a:avLst/>
          </a:prstGeom>
          <a:solidFill>
            <a:srgbClr val="D9A72E">
              <a:alpha val="4000"/>
            </a:srgbClr>
          </a:solidFill>
          <a:ln w="12700">
            <a:solidFill>
              <a:srgbClr val="D9A72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320040"/>
            <a:ext cx="5715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— الاكتشاف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0" y="841248"/>
            <a:ext cx="5577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البوابة الذكية قبل دخول الشجرة.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0" y="1225296"/>
            <a:ext cx="1920240" cy="0"/>
          </a:xfrm>
          <a:prstGeom prst="line">
            <a:avLst/>
          </a:prstGeom>
          <a:noFill/>
          <a:ln w="25400">
            <a:solidFill>
              <a:srgbClr val="D9A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4937760" cy="4389120"/>
          </a:xfrm>
          <a:prstGeom prst="roundRect">
            <a:avLst>
              <a:gd name="adj" fmla="val 1667"/>
            </a:avLst>
          </a:prstGeom>
          <a:solidFill>
            <a:srgbClr val="102338"/>
          </a:solidFill>
          <a:ln w="12700">
            <a:solidFill>
              <a:srgbClr val="D9A72E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مساران للدخول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51560" y="228600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0B1726"/>
          </a:solidFill>
          <a:ln w="12700">
            <a:solidFill>
              <a:srgbClr val="33496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2450592"/>
            <a:ext cx="438912" cy="438912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43891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80360" y="2395728"/>
            <a:ext cx="15544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أعرف ماذا أريد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761488"/>
            <a:ext cx="30632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وصف نصي → Gemini → توصيات مدعومة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1560" y="352044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0B1726"/>
          </a:solidFill>
          <a:ln w="12700">
            <a:solidFill>
              <a:srgbClr val="33496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17720" y="3685032"/>
            <a:ext cx="438912" cy="438912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3703320"/>
            <a:ext cx="43891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80360" y="3630168"/>
            <a:ext cx="15544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أعرف أين مكاني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995928"/>
            <a:ext cx="30632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أسئلة + محادثة + اختبار أساسيات → تحليل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0840" y="141732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152A42"/>
          </a:solidFill>
          <a:ln w="12700">
            <a:solidFill>
              <a:srgbClr val="324B6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1545336"/>
            <a:ext cx="37947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إشارات الطالب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15400" y="1874520"/>
            <a:ext cx="0" cy="292608"/>
          </a:xfrm>
          <a:prstGeom prst="line">
            <a:avLst/>
          </a:prstGeom>
          <a:noFill/>
          <a:ln w="1651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20840" y="2221992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152A42"/>
          </a:solidFill>
          <a:ln w="12700">
            <a:solidFill>
              <a:srgbClr val="324B6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95160" y="2350008"/>
            <a:ext cx="37947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تخصصات مسموحة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15400" y="2679192"/>
            <a:ext cx="0" cy="292608"/>
          </a:xfrm>
          <a:prstGeom prst="line">
            <a:avLst/>
          </a:prstGeom>
          <a:noFill/>
          <a:ln w="1651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20840" y="3026664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D9A72E"/>
          </a:solidFill>
          <a:ln w="12700">
            <a:solidFill>
              <a:srgbClr val="D9A72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95160" y="3154680"/>
            <a:ext cx="37947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15400" y="3483864"/>
            <a:ext cx="0" cy="292608"/>
          </a:xfrm>
          <a:prstGeom prst="line">
            <a:avLst/>
          </a:prstGeom>
          <a:noFill/>
          <a:ln w="1651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720840" y="3831336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152A42"/>
          </a:solidFill>
          <a:ln w="12700">
            <a:solidFill>
              <a:srgbClr val="324B6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95160" y="3959352"/>
            <a:ext cx="37947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فلترة محلية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15400" y="4288536"/>
            <a:ext cx="0" cy="292608"/>
          </a:xfrm>
          <a:prstGeom prst="line">
            <a:avLst/>
          </a:prstGeom>
          <a:noFill/>
          <a:ln w="1651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20840" y="4636008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152A42"/>
          </a:solidFill>
          <a:ln w="12700">
            <a:solidFill>
              <a:srgbClr val="324B6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95160" y="4764024"/>
            <a:ext cx="37947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الطالب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5715000"/>
            <a:ext cx="52120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يقترح، لكن التطبيق لا يقبل إلا تخصصات موجودة في البيانات.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220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&amp; 2 — الشجرة التعليمية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66360" y="960120"/>
            <a:ext cx="6400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435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المواد ليست قائمة. إنها عقد مترابطة بمتطلبات سابقة وحالات تقدّم.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623560" cy="4800600"/>
          </a:xfrm>
          <a:prstGeom prst="roundRect">
            <a:avLst>
              <a:gd name="adj" fmla="val 1524"/>
            </a:avLst>
          </a:prstGeom>
          <a:solidFill>
            <a:srgbClr val="0B1726"/>
          </a:solidFill>
          <a:ln w="12700">
            <a:solidFill>
              <a:srgbClr val="0B1726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56432" y="2084832"/>
            <a:ext cx="0" cy="914400"/>
          </a:xfrm>
          <a:prstGeom prst="line">
            <a:avLst/>
          </a:prstGeom>
          <a:noFill/>
          <a:ln w="12700">
            <a:solidFill>
              <a:srgbClr val="D9A72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56432" y="2084832"/>
            <a:ext cx="914400" cy="914400"/>
          </a:xfrm>
          <a:prstGeom prst="line">
            <a:avLst/>
          </a:prstGeom>
          <a:noFill/>
          <a:ln w="12700">
            <a:solidFill>
              <a:srgbClr val="D9A72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42032" y="2999232"/>
            <a:ext cx="0" cy="1051560"/>
          </a:xfrm>
          <a:prstGeom prst="line">
            <a:avLst/>
          </a:prstGeom>
          <a:noFill/>
          <a:ln w="12700">
            <a:solidFill>
              <a:srgbClr val="D9A72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42032" y="2999232"/>
            <a:ext cx="457200" cy="1097280"/>
          </a:xfrm>
          <a:prstGeom prst="line">
            <a:avLst/>
          </a:prstGeom>
          <a:noFill/>
          <a:ln w="12700">
            <a:solidFill>
              <a:srgbClr val="D9A72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70832" y="2999232"/>
            <a:ext cx="0" cy="1097280"/>
          </a:xfrm>
          <a:prstGeom prst="line">
            <a:avLst/>
          </a:prstGeom>
          <a:noFill/>
          <a:ln w="12700">
            <a:solidFill>
              <a:srgbClr val="D9A72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70832" y="2999232"/>
            <a:ext cx="777240" cy="1097280"/>
          </a:xfrm>
          <a:prstGeom prst="line">
            <a:avLst/>
          </a:prstGeom>
          <a:noFill/>
          <a:ln w="12700">
            <a:solidFill>
              <a:srgbClr val="D9A72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99232" y="4096512"/>
            <a:ext cx="0" cy="1051560"/>
          </a:xfrm>
          <a:prstGeom prst="line">
            <a:avLst/>
          </a:prstGeom>
          <a:noFill/>
          <a:ln w="12700">
            <a:solidFill>
              <a:srgbClr val="D9A72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96512" y="4096512"/>
            <a:ext cx="502920" cy="1051560"/>
          </a:xfrm>
          <a:prstGeom prst="line">
            <a:avLst/>
          </a:prstGeom>
          <a:noFill/>
          <a:ln w="12700">
            <a:solidFill>
              <a:srgbClr val="D9A72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512064" cy="512064"/>
          </a:xfrm>
          <a:prstGeom prst="ellipse">
            <a:avLst/>
          </a:prstGeom>
          <a:solidFill>
            <a:srgbClr val="D9A72E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44952" y="1993392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286000" y="2743200"/>
            <a:ext cx="512064" cy="512064"/>
          </a:xfrm>
          <a:prstGeom prst="ellipse">
            <a:avLst/>
          </a:prstGeom>
          <a:solidFill>
            <a:srgbClr val="D9A72E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30552" y="2907792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14800" y="2743200"/>
            <a:ext cx="512064" cy="512064"/>
          </a:xfrm>
          <a:prstGeom prst="ellipse">
            <a:avLst/>
          </a:prstGeom>
          <a:solidFill>
            <a:srgbClr val="D9A72E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59352" y="2907792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554480" y="3794760"/>
            <a:ext cx="512064" cy="512064"/>
          </a:xfrm>
          <a:prstGeom prst="ellipse">
            <a:avLst/>
          </a:prstGeom>
          <a:solidFill>
            <a:srgbClr val="6EA8FE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99032" y="3959352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0" y="3840480"/>
            <a:ext cx="512064" cy="512064"/>
          </a:xfrm>
          <a:prstGeom prst="ellipse">
            <a:avLst/>
          </a:prstGeom>
          <a:solidFill>
            <a:srgbClr val="6EA8FE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87752" y="4005072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840480" y="3840480"/>
            <a:ext cx="512064" cy="512064"/>
          </a:xfrm>
          <a:prstGeom prst="ellipse">
            <a:avLst/>
          </a:prstGeom>
          <a:solidFill>
            <a:srgbClr val="6EA8FE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85032" y="4005072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892040" y="3840480"/>
            <a:ext cx="512064" cy="512064"/>
          </a:xfrm>
          <a:prstGeom prst="ellipse">
            <a:avLst/>
          </a:prstGeom>
          <a:solidFill>
            <a:srgbClr val="31445A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36592" y="4005072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148840" y="4892040"/>
            <a:ext cx="512064" cy="512064"/>
          </a:xfrm>
          <a:prstGeom prst="ellipse">
            <a:avLst/>
          </a:prstGeom>
          <a:solidFill>
            <a:srgbClr val="31445A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993392" y="5056632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343400" y="4892040"/>
            <a:ext cx="512064" cy="512064"/>
          </a:xfrm>
          <a:prstGeom prst="ellipse">
            <a:avLst/>
          </a:prstGeom>
          <a:solidFill>
            <a:srgbClr val="31445A"/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87952" y="5056632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965960" y="5559552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شجرة قابلة للاستكشاف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58000" y="182880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5AC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378440" y="1975104"/>
            <a:ext cx="411480" cy="411480"/>
          </a:xfrm>
          <a:prstGeom prst="ellipse">
            <a:avLst/>
          </a:prstGeom>
          <a:solidFill>
            <a:srgbClr val="AEB6BF"/>
          </a:solidFill>
          <a:ln w="12700">
            <a:solidFill>
              <a:srgbClr val="AEB6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378440" y="1993392"/>
            <a:ext cx="41148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61120" y="1956816"/>
            <a:ext cx="1234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32320" y="2286000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36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متطلبات لم تكتمل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0" y="288036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5AC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378440" y="3026664"/>
            <a:ext cx="411480" cy="41148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378440" y="3044952"/>
            <a:ext cx="41148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61120" y="3008376"/>
            <a:ext cx="1234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Unlocked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32320" y="3337560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36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جاهزة للمحاولة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58000" y="393192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5AC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378440" y="4078224"/>
            <a:ext cx="411480" cy="411480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378440" y="4096512"/>
            <a:ext cx="41148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961120" y="4059936"/>
            <a:ext cx="1234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132320" y="4389120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36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نجح وفتح التالي</a:t>
            </a:r>
            <a:endParaRPr lang="en-US" sz="10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 w="12700">
            <a:solidFill>
              <a:srgbClr val="0B17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743200" y="0"/>
            <a:ext cx="5486400" cy="4572000"/>
          </a:xfrm>
          <a:prstGeom prst="arc">
            <a:avLst/>
          </a:prstGeom>
          <a:solidFill>
            <a:srgbClr val="D9A72E">
              <a:alpha val="5000"/>
            </a:srgbClr>
          </a:solidFill>
          <a:ln w="19050">
            <a:solidFill>
              <a:srgbClr val="D9A72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94015" y="5038344"/>
            <a:ext cx="4297680" cy="3657600"/>
          </a:xfrm>
          <a:prstGeom prst="arc">
            <a:avLst/>
          </a:prstGeom>
          <a:solidFill>
            <a:srgbClr val="D9A72E">
              <a:alpha val="4000"/>
            </a:srgbClr>
          </a:solidFill>
          <a:ln w="12700">
            <a:solidFill>
              <a:srgbClr val="D9A72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320040"/>
            <a:ext cx="5715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الجاهزية المهنية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0" y="841248"/>
            <a:ext cx="5577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الجسر الأخير بين إكمال المسار الأكاديمي والاستعداد العملي.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0" y="1225296"/>
            <a:ext cx="1920240" cy="0"/>
          </a:xfrm>
          <a:prstGeom prst="line">
            <a:avLst/>
          </a:prstGeom>
          <a:noFill/>
          <a:ln w="25400">
            <a:solidFill>
              <a:srgbClr val="D9A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235440" y="196596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102338"/>
          </a:solidFill>
          <a:ln w="12700">
            <a:solidFill>
              <a:srgbClr val="2D456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21240" y="2176272"/>
            <a:ext cx="411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464040" y="2679192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سياق مكتمل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0" y="3063240"/>
            <a:ext cx="1417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تخصص + مواد + مهارات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0" y="2880360"/>
            <a:ext cx="0" cy="0"/>
          </a:xfrm>
          <a:prstGeom prst="line">
            <a:avLst/>
          </a:prstGeom>
          <a:noFill/>
          <a:ln w="1778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86600" y="196596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102338"/>
          </a:solidFill>
          <a:ln w="12700">
            <a:solidFill>
              <a:srgbClr val="2D456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0" y="2176272"/>
            <a:ext cx="411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0" y="2679192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وظائف مقترحة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69480" y="3063240"/>
            <a:ext cx="1417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يقترح أدوارًا محتملة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95160" y="2880360"/>
            <a:ext cx="0" cy="0"/>
          </a:xfrm>
          <a:prstGeom prst="line">
            <a:avLst/>
          </a:prstGeom>
          <a:noFill/>
          <a:ln w="1778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37760" y="196596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102338"/>
          </a:solidFill>
          <a:ln w="12700">
            <a:solidFill>
              <a:srgbClr val="2D456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23560" y="2176272"/>
            <a:ext cx="411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166360" y="2679192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الطالب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3063240"/>
            <a:ext cx="1417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حتى 3 أدوار مستهدفة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2880360"/>
            <a:ext cx="0" cy="0"/>
          </a:xfrm>
          <a:prstGeom prst="line">
            <a:avLst/>
          </a:prstGeom>
          <a:noFill/>
          <a:ln w="1778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88920" y="196596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102338"/>
          </a:solidFill>
          <a:ln w="12700">
            <a:solidFill>
              <a:srgbClr val="2D456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0" y="2176272"/>
            <a:ext cx="411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3017520" y="2679192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عقد نهائية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71800" y="3063240"/>
            <a:ext cx="1417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مواضيع جاهزية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97480" y="2880360"/>
            <a:ext cx="0" cy="0"/>
          </a:xfrm>
          <a:prstGeom prst="line">
            <a:avLst/>
          </a:prstGeom>
          <a:noFill/>
          <a:ln w="1778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0080" y="196596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D9A72E"/>
          </a:solidFill>
          <a:ln w="12700">
            <a:solidFill>
              <a:srgbClr val="D9A72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25880" y="2176272"/>
            <a:ext cx="411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68680" y="2679192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وموارد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3063240"/>
            <a:ext cx="1417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تعلم + تقييم + فتح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325880" y="4800600"/>
            <a:ext cx="9692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 المهمة: المرحلة النهائية لا تعيد اختراع المسار، بل تغلق فجوات الجاهزية حسب الوظائف التي يختارها الطالب.</a:t>
            </a:r>
            <a:endParaRPr lang="en-US" sz="1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411480"/>
            <a:ext cx="4572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الاختبارات الذكي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0" y="960120"/>
            <a:ext cx="5669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435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 هو بوابة التقدم، وليس زر إكمال شكلي.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092440" y="1645920"/>
            <a:ext cx="2971800" cy="306324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0D2A5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41280" y="1965960"/>
            <a:ext cx="530352" cy="530352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0" y="1984248"/>
            <a:ext cx="53035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0" y="2514600"/>
            <a:ext cx="1828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MCQ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0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من متعدد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58200" y="3429000"/>
            <a:ext cx="1783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36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مفاهيم، تعريفات، مقارنة سريعة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2971800" cy="306324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0D2A5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12280" y="1965960"/>
            <a:ext cx="530352" cy="530352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12280" y="1984248"/>
            <a:ext cx="53035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514600"/>
            <a:ext cx="1828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83480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إجابة نصية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429000"/>
            <a:ext cx="1783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36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شرح، تحليل، تفكير، كود قصير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34440" y="1645920"/>
            <a:ext cx="2971800" cy="306324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0D2A5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83280" y="1965960"/>
            <a:ext cx="530352" cy="530352"/>
          </a:xfrm>
          <a:prstGeom prst="ellipse">
            <a:avLst/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1984248"/>
            <a:ext cx="53035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2514600"/>
            <a:ext cx="1828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554480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إجابة صورية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3429000"/>
            <a:ext cx="1783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36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رسم، مخطط، تصميم، إثبات بصري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5349240"/>
            <a:ext cx="84124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اختبار يُولد من سياق العقدة: المادة، المرحلة، المهارات، والمتطلبات السابقة.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 w="12700">
            <a:solidFill>
              <a:srgbClr val="0B17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769012" y="-4572"/>
            <a:ext cx="5486400" cy="4572000"/>
          </a:xfrm>
          <a:prstGeom prst="arc">
            <a:avLst/>
          </a:prstGeom>
          <a:solidFill>
            <a:srgbClr val="D9A72E">
              <a:alpha val="5000"/>
            </a:srgbClr>
          </a:solidFill>
          <a:ln w="19050">
            <a:solidFill>
              <a:srgbClr val="D9A72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94320" y="5029200"/>
            <a:ext cx="4297680" cy="3657600"/>
          </a:xfrm>
          <a:prstGeom prst="arc">
            <a:avLst/>
          </a:prstGeom>
          <a:solidFill>
            <a:srgbClr val="D9A72E">
              <a:alpha val="4000"/>
            </a:srgbClr>
          </a:solidFill>
          <a:ln w="12700">
            <a:solidFill>
              <a:srgbClr val="D9A72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320040"/>
            <a:ext cx="5715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العقدة إلى فتح التالي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0" y="841248"/>
            <a:ext cx="5577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→ Quiz → Evaluation → Integrity → Unlock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0" y="1225296"/>
            <a:ext cx="1920240" cy="0"/>
          </a:xfrm>
          <a:prstGeom prst="line">
            <a:avLst/>
          </a:prstGeom>
          <a:noFill/>
          <a:ln w="25400">
            <a:solidFill>
              <a:srgbClr val="D9A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875520" y="23317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D9A72E"/>
          </a:solidFill>
          <a:ln w="12700">
            <a:solidFill>
              <a:srgbClr val="D9A72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12680" y="2633472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العقدة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829800" y="2788920"/>
            <a:ext cx="0" cy="0"/>
          </a:xfrm>
          <a:prstGeom prst="line">
            <a:avLst/>
          </a:prstGeom>
          <a:noFill/>
          <a:ln w="1778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46720" y="23317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02338"/>
          </a:solidFill>
          <a:ln w="12700">
            <a:solidFill>
              <a:srgbClr val="2D456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83880" y="2633472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الاختبار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2788920"/>
            <a:ext cx="0" cy="0"/>
          </a:xfrm>
          <a:prstGeom prst="line">
            <a:avLst/>
          </a:prstGeom>
          <a:noFill/>
          <a:ln w="1778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02338"/>
          </a:solidFill>
          <a:ln w="12700">
            <a:solidFill>
              <a:srgbClr val="2D456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080" y="2633472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إجابة الطالب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2788920"/>
            <a:ext cx="0" cy="0"/>
          </a:xfrm>
          <a:prstGeom prst="line">
            <a:avLst/>
          </a:prstGeom>
          <a:noFill/>
          <a:ln w="1778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89120" y="23317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02338"/>
          </a:solidFill>
          <a:ln w="12700">
            <a:solidFill>
              <a:srgbClr val="2D456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26280" y="2633472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2788920"/>
            <a:ext cx="0" cy="0"/>
          </a:xfrm>
          <a:prstGeom prst="line">
            <a:avLst/>
          </a:prstGeom>
          <a:noFill/>
          <a:ln w="1778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0" y="23317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02338"/>
          </a:solidFill>
          <a:ln w="12700">
            <a:solidFill>
              <a:srgbClr val="2D456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97480" y="2633472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النزاهة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2788920"/>
            <a:ext cx="0" cy="0"/>
          </a:xfrm>
          <a:prstGeom prst="line">
            <a:avLst/>
          </a:prstGeom>
          <a:noFill/>
          <a:ln w="1778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23317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48D597"/>
          </a:solidFill>
          <a:ln w="12700">
            <a:solidFill>
              <a:srgbClr val="48D59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2633472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فتح التالي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1560" y="4251960"/>
            <a:ext cx="10058400" cy="868680"/>
          </a:xfrm>
          <a:prstGeom prst="roundRect">
            <a:avLst>
              <a:gd name="adj" fmla="val 8421"/>
            </a:avLst>
          </a:prstGeom>
          <a:solidFill>
            <a:srgbClr val="102338"/>
          </a:solidFill>
          <a:ln w="12700">
            <a:solidFill>
              <a:srgbClr val="D9A72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25880" y="4553712"/>
            <a:ext cx="95554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الفتح يبقى داخل التطبيق: نجاح الاختبار + نزاهة مقبولة + متطلبات مكتملة.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01000" y="5440680"/>
            <a:ext cx="1572768" cy="320040"/>
          </a:xfrm>
          <a:prstGeom prst="roundRect">
            <a:avLst>
              <a:gd name="adj" fmla="val 17143"/>
            </a:avLst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74152" y="5504688"/>
            <a:ext cx="14264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Switching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26480" y="5440680"/>
            <a:ext cx="1572768" cy="320040"/>
          </a:xfrm>
          <a:prstGeom prst="roundRect">
            <a:avLst>
              <a:gd name="adj" fmla="val 17143"/>
            </a:avLst>
          </a:prstGeom>
          <a:solidFill>
            <a:srgbClr val="EFE8D9"/>
          </a:solidFill>
          <a:ln w="12700">
            <a:solidFill>
              <a:srgbClr val="EFE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99632" y="5504688"/>
            <a:ext cx="14264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Loss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51960" y="5440680"/>
            <a:ext cx="1572768" cy="320040"/>
          </a:xfrm>
          <a:prstGeom prst="roundRect">
            <a:avLst>
              <a:gd name="adj" fmla="val 17143"/>
            </a:avLst>
          </a:prstGeom>
          <a:solidFill>
            <a:srgbClr val="D9A72E"/>
          </a:solidFill>
          <a:ln w="12700">
            <a:solidFill>
              <a:srgbClr val="D9A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25112" y="5504688"/>
            <a:ext cx="14264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Protection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377440" y="5440680"/>
            <a:ext cx="1572768" cy="320040"/>
          </a:xfrm>
          <a:prstGeom prst="roundRect">
            <a:avLst>
              <a:gd name="adj" fmla="val 17143"/>
            </a:avLst>
          </a:prstGeom>
          <a:solidFill>
            <a:srgbClr val="EFE8D9"/>
          </a:solidFill>
          <a:ln w="12700">
            <a:solidFill>
              <a:srgbClr val="EFE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450592" y="5504688"/>
            <a:ext cx="14264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/ Face Signals</a:t>
            </a:r>
            <a:endParaRPr lang="en-US" sz="8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9320" y="457200"/>
            <a:ext cx="56692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والمعمارية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0" y="960120"/>
            <a:ext cx="5577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435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المبدأ الحاكم: AI يقترح، التطبيق يتحقق ويقرر.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03120" y="1508760"/>
            <a:ext cx="7955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C88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0" y="1636776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Mobile Client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23160" y="1636776"/>
            <a:ext cx="3383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36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وتجربة الطالب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80760" y="2011680"/>
            <a:ext cx="0" cy="256032"/>
          </a:xfrm>
          <a:prstGeom prst="line">
            <a:avLst/>
          </a:prstGeom>
          <a:noFill/>
          <a:ln w="1397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03120" y="2313432"/>
            <a:ext cx="7955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C88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0" y="2441448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Services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2441448"/>
            <a:ext cx="3383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36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+ Storage + Unlock Engine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2816352"/>
            <a:ext cx="0" cy="256032"/>
          </a:xfrm>
          <a:prstGeom prst="line">
            <a:avLst/>
          </a:prstGeom>
          <a:noFill/>
          <a:ln w="1397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3118104"/>
            <a:ext cx="7955280" cy="502920"/>
          </a:xfrm>
          <a:prstGeom prst="roundRect">
            <a:avLst>
              <a:gd name="adj" fmla="val 14545"/>
            </a:avLst>
          </a:prstGeom>
          <a:solidFill>
            <a:srgbClr val="D9A72E"/>
          </a:solidFill>
          <a:ln w="12700">
            <a:solidFill>
              <a:srgbClr val="D9A72E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3246120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+ Vertex AI 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3246120"/>
            <a:ext cx="3383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توصية + اختبار + موارد + جاهزية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3621024"/>
            <a:ext cx="0" cy="256032"/>
          </a:xfrm>
          <a:prstGeom prst="line">
            <a:avLst/>
          </a:prstGeom>
          <a:noFill/>
          <a:ln w="1397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03120" y="3922776"/>
            <a:ext cx="7955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C88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4050792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Validation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23160" y="4050792"/>
            <a:ext cx="3383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36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فلترة + JSON Schema + قواعد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4425696"/>
            <a:ext cx="0" cy="256032"/>
          </a:xfrm>
          <a:prstGeom prst="line">
            <a:avLst/>
          </a:prstGeom>
          <a:noFill/>
          <a:ln w="13970">
            <a:solidFill>
              <a:srgbClr val="D9A7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03120" y="4727448"/>
            <a:ext cx="7955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C88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4855464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Storage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23160" y="4855464"/>
            <a:ext cx="3383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36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تقدم + اختبارات + 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5806440"/>
            <a:ext cx="7863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يوجد مخرج AI يدخل حالة المنتج مباشرة بدون تحقق محلي.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6"/>
          </a:solidFill>
          <a:ln w="12700">
            <a:solidFill>
              <a:srgbClr val="0B17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743200" y="0"/>
            <a:ext cx="5486400" cy="4572000"/>
          </a:xfrm>
          <a:prstGeom prst="arc">
            <a:avLst/>
          </a:prstGeom>
          <a:solidFill>
            <a:srgbClr val="D9A72E">
              <a:alpha val="5000"/>
            </a:srgbClr>
          </a:solidFill>
          <a:ln w="19050">
            <a:solidFill>
              <a:srgbClr val="D9A72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94015" y="5065776"/>
            <a:ext cx="4297680" cy="3657600"/>
          </a:xfrm>
          <a:prstGeom prst="arc">
            <a:avLst/>
          </a:prstGeom>
          <a:solidFill>
            <a:srgbClr val="D9A72E">
              <a:alpha val="4000"/>
            </a:srgbClr>
          </a:solidFill>
          <a:ln w="12700">
            <a:solidFill>
              <a:srgbClr val="D9A72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0" y="320040"/>
            <a:ext cx="5715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الميزة التنافسية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0" y="841248"/>
            <a:ext cx="5577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يجمع ما تفعله عدة أدوات منفصلة في منتج واحد.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0" y="1225296"/>
            <a:ext cx="1920240" cy="0"/>
          </a:xfrm>
          <a:prstGeom prst="line">
            <a:avLst/>
          </a:prstGeom>
          <a:noFill/>
          <a:ln w="25400">
            <a:solidFill>
              <a:srgbClr val="D9A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61320" y="1417320"/>
            <a:ext cx="384048" cy="38404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61320" y="1435608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43800" y="1499616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إرشاد قبل الاختيار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1499616"/>
            <a:ext cx="1600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1847088"/>
            <a:ext cx="5257800" cy="0"/>
          </a:xfrm>
          <a:prstGeom prst="line">
            <a:avLst/>
          </a:prstGeom>
          <a:noFill/>
          <a:ln w="12700">
            <a:solidFill>
              <a:srgbClr val="2D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561320" y="2221992"/>
            <a:ext cx="384048" cy="38404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61320" y="2240280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43800" y="2304288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تعلم مرتب بالمتطلبات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15000" y="2304288"/>
            <a:ext cx="1600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 Graph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2651760"/>
            <a:ext cx="5257800" cy="0"/>
          </a:xfrm>
          <a:prstGeom prst="line">
            <a:avLst/>
          </a:prstGeom>
          <a:noFill/>
          <a:ln w="12700">
            <a:solidFill>
              <a:srgbClr val="2D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561320" y="3026664"/>
            <a:ext cx="384048" cy="38404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61320" y="3044952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43800" y="3108960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متعدد الأنواع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15000" y="3108960"/>
            <a:ext cx="1600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MCQ / Text / Image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3456432"/>
            <a:ext cx="5257800" cy="0"/>
          </a:xfrm>
          <a:prstGeom prst="line">
            <a:avLst/>
          </a:prstGeom>
          <a:noFill/>
          <a:ln w="12700">
            <a:solidFill>
              <a:srgbClr val="2D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561320" y="3831336"/>
            <a:ext cx="384048" cy="38404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61320" y="3849624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43800" y="3913632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نزاهة أثناء التقييم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15000" y="3913632"/>
            <a:ext cx="1600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Signals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4261104"/>
            <a:ext cx="5257800" cy="0"/>
          </a:xfrm>
          <a:prstGeom prst="line">
            <a:avLst/>
          </a:prstGeom>
          <a:noFill/>
          <a:ln w="12700">
            <a:solidFill>
              <a:srgbClr val="2D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561320" y="4636008"/>
            <a:ext cx="384048" cy="384048"/>
          </a:xfrm>
          <a:prstGeom prst="ellipse">
            <a:avLst/>
          </a:prstGeom>
          <a:solidFill>
            <a:srgbClr val="48D597"/>
          </a:solidFill>
          <a:ln w="12700">
            <a:solidFill>
              <a:srgbClr val="48D5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561320" y="4654296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43800" y="4718304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نهاية مهنية واضحة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15000" y="4718304"/>
            <a:ext cx="1600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5065776"/>
            <a:ext cx="5257800" cy="0"/>
          </a:xfrm>
          <a:prstGeom prst="line">
            <a:avLst/>
          </a:prstGeom>
          <a:noFill/>
          <a:ln w="12700">
            <a:solidFill>
              <a:srgbClr val="2D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7240" y="141732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102338"/>
          </a:solidFill>
          <a:ln w="12700">
            <a:solidFill>
              <a:srgbClr val="D9A72E">
                <a:alpha val="45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43000" y="2011680"/>
            <a:ext cx="3429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 مجرد تطبيق مواد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43000" y="2743200"/>
            <a:ext cx="34290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8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إنه محرك تقدّم: يوجه، يرتب، يختبر، يتحقق، ثم يربط الطالب بالجاهزية العملية.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417320" y="4434840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Logic &gt; AI Chaos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A"/>
          </a:solidFill>
          <a:ln w="12700">
            <a:solidFill>
              <a:srgbClr val="F8F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B1726"/>
          </a:solidFill>
          <a:ln w="12700">
            <a:solidFill>
              <a:srgbClr val="0B17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masa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0040"/>
            <a:ext cx="1143000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41080" y="530352"/>
            <a:ext cx="25603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754880" y="1078992"/>
            <a:ext cx="6400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EFE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طالب تائه إلى طالب يعرف طريقه، يثبت تقدمه، ويستعد لسوق العمل.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412480" y="24231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01F31"/>
          </a:solidFill>
          <a:ln w="12700">
            <a:solidFill>
              <a:srgbClr val="D9A7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22208" y="2578608"/>
            <a:ext cx="19751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وضوح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522208" y="2953512"/>
            <a:ext cx="19751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FE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تخصص مدعوم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15000" y="24231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01F31"/>
          </a:solidFill>
          <a:ln w="12700">
            <a:solidFill>
              <a:srgbClr val="D9A7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24728" y="2578608"/>
            <a:ext cx="19751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ثقة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824728" y="2953512"/>
            <a:ext cx="19751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FE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اختبارات قبل الفتح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017520" y="24231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01F31"/>
          </a:solidFill>
          <a:ln w="12700">
            <a:solidFill>
              <a:srgbClr val="D9A72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27248" y="2578608"/>
            <a:ext cx="19751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جاهزية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3127248" y="2953512"/>
            <a:ext cx="19751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FE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مرحلة مهنية نهائية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828800" y="4343400"/>
            <a:ext cx="8549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ليس فكرة على الورق.</a:t>
            </a:r>
            <a:endParaRPr lang="en-US" sz="2900" dirty="0"/>
          </a:p>
        </p:txBody>
      </p:sp>
      <p:sp>
        <p:nvSpPr>
          <p:cNvPr id="17" name="Text 14"/>
          <p:cNvSpPr/>
          <p:nvPr/>
        </p:nvSpPr>
        <p:spPr>
          <a:xfrm>
            <a:off x="1828800" y="4892040"/>
            <a:ext cx="85496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إنه منتج قابل للبناء والعرض والتوسّع.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754880" y="5989320"/>
            <a:ext cx="2743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 لكم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EDE8D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901</Words>
  <Application>Microsoft Office PowerPoint</Application>
  <PresentationFormat>Widescreen</PresentationFormat>
  <Paragraphs>262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Masar Pitch Deck Arabic</dc:title>
  <dc:subject>Masar Arabic Startup Pitch Deck</dc:subject>
  <dc:creator>OpenAI</dc:creator>
  <cp:lastModifiedBy>Ra'Ed Afifeh</cp:lastModifiedBy>
  <cp:revision>3</cp:revision>
  <dcterms:created xsi:type="dcterms:W3CDTF">2026-04-24T19:40:17Z</dcterms:created>
  <dcterms:modified xsi:type="dcterms:W3CDTF">2026-04-24T19:46:56Z</dcterms:modified>
</cp:coreProperties>
</file>